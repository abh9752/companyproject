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Noto Sans TC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jU87OrFryk6BycmzUkm6TcoUpp/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otoSansTC-regular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NotoSansTC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dd4efdb401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3dd4efdb401_0_3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dd4efdb401_0_40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dd4efdb401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dd4efdb401_0_40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7" name="Google Shape;1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4242851"/>
            <a:ext cx="8968084" cy="275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8" name="Google Shape;1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11716" y="4243845"/>
            <a:ext cx="3077108" cy="27694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4"/>
          <p:cNvSpPr/>
          <p:nvPr/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4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4"/>
          <p:cNvSpPr txBox="1"/>
          <p:nvPr>
            <p:ph type="ctrTitle"/>
          </p:nvPr>
        </p:nvSpPr>
        <p:spPr>
          <a:xfrm>
            <a:off x="680322" y="2733709"/>
            <a:ext cx="8144134" cy="13730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rebuchet M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" type="subTitle"/>
          </p:nvPr>
        </p:nvSpPr>
        <p:spPr>
          <a:xfrm>
            <a:off x="680322" y="4394039"/>
            <a:ext cx="8144134" cy="1117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14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2" type="sldNum"/>
          </p:nvPr>
        </p:nvSpPr>
        <p:spPr>
          <a:xfrm>
            <a:off x="9255346" y="2750337"/>
            <a:ext cx="1171888" cy="1356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27" name="Google Shape;2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28" name="Google Shape;2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15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5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37" name="Google Shape;3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38" name="Google Shape;3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6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680320" y="2336873"/>
            <a:ext cx="46983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5594123" y="2336873"/>
            <a:ext cx="47000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6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48" name="Google Shape;48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4086907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49" name="Google Shape;4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4" y="4087901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7"/>
          <p:cNvSpPr/>
          <p:nvPr/>
        </p:nvSpPr>
        <p:spPr>
          <a:xfrm>
            <a:off x="-2" y="2726267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7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7"/>
          <p:cNvSpPr txBox="1"/>
          <p:nvPr>
            <p:ph type="title"/>
          </p:nvPr>
        </p:nvSpPr>
        <p:spPr>
          <a:xfrm>
            <a:off x="680322" y="2869895"/>
            <a:ext cx="9613860" cy="1090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" type="body"/>
          </p:nvPr>
        </p:nvSpPr>
        <p:spPr>
          <a:xfrm>
            <a:off x="680322" y="4232171"/>
            <a:ext cx="9613860" cy="1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17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7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2" type="sldNum"/>
          </p:nvPr>
        </p:nvSpPr>
        <p:spPr>
          <a:xfrm>
            <a:off x="10729455" y="286989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58" name="Google Shape;58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59" name="Google Shape;5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8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8"/>
          <p:cNvSpPr txBox="1"/>
          <p:nvPr>
            <p:ph type="title"/>
          </p:nvPr>
        </p:nvSpPr>
        <p:spPr>
          <a:xfrm>
            <a:off x="680319" y="753229"/>
            <a:ext cx="9613863" cy="1080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/>
          <p:nvPr>
            <p:ph idx="1" type="body"/>
          </p:nvPr>
        </p:nvSpPr>
        <p:spPr>
          <a:xfrm>
            <a:off x="906350" y="2336873"/>
            <a:ext cx="4472327" cy="6931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4" name="Google Shape;64;p18"/>
          <p:cNvSpPr txBox="1"/>
          <p:nvPr>
            <p:ph idx="2" type="body"/>
          </p:nvPr>
        </p:nvSpPr>
        <p:spPr>
          <a:xfrm>
            <a:off x="680322" y="3030008"/>
            <a:ext cx="4698355" cy="2906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8"/>
          <p:cNvSpPr txBox="1"/>
          <p:nvPr>
            <p:ph idx="3" type="body"/>
          </p:nvPr>
        </p:nvSpPr>
        <p:spPr>
          <a:xfrm>
            <a:off x="5820154" y="2336873"/>
            <a:ext cx="4474028" cy="6920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6" name="Google Shape;66;p18"/>
          <p:cNvSpPr txBox="1"/>
          <p:nvPr>
            <p:ph idx="4" type="body"/>
          </p:nvPr>
        </p:nvSpPr>
        <p:spPr>
          <a:xfrm>
            <a:off x="5594123" y="3030008"/>
            <a:ext cx="4700059" cy="2906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71" name="Google Shape;71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72" name="Google Shape;7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9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9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Short.png" id="80" name="Google Shape;80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0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0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86" name="Google Shape;86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87" name="Google Shape;8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1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1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1"/>
          <p:cNvSpPr txBox="1"/>
          <p:nvPr>
            <p:ph type="title"/>
          </p:nvPr>
        </p:nvSpPr>
        <p:spPr>
          <a:xfrm>
            <a:off x="680321" y="753227"/>
            <a:ext cx="9613859" cy="1080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1"/>
          <p:cNvSpPr txBox="1"/>
          <p:nvPr>
            <p:ph idx="1" type="body"/>
          </p:nvPr>
        </p:nvSpPr>
        <p:spPr>
          <a:xfrm>
            <a:off x="4685846" y="2336873"/>
            <a:ext cx="5608336" cy="359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21"/>
          <p:cNvSpPr txBox="1"/>
          <p:nvPr>
            <p:ph idx="2" type="body"/>
          </p:nvPr>
        </p:nvSpPr>
        <p:spPr>
          <a:xfrm>
            <a:off x="680322" y="2336872"/>
            <a:ext cx="3790078" cy="35993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3" name="Google Shape;93;p21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1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1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97" name="Google Shape;97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98" name="Google Shape;9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2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2"/>
          <p:cNvSpPr txBox="1"/>
          <p:nvPr>
            <p:ph type="title"/>
          </p:nvPr>
        </p:nvSpPr>
        <p:spPr>
          <a:xfrm>
            <a:off x="680323" y="753228"/>
            <a:ext cx="9613857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2"/>
          <p:cNvSpPr/>
          <p:nvPr>
            <p:ph idx="2" type="pic"/>
          </p:nvPr>
        </p:nvSpPr>
        <p:spPr>
          <a:xfrm>
            <a:off x="4868333" y="2336874"/>
            <a:ext cx="5425849" cy="3599312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5040000" dist="63500">
              <a:srgbClr val="000000">
                <a:alpha val="41176"/>
              </a:srgbClr>
            </a:outerShdw>
          </a:effectLst>
        </p:spPr>
      </p:sp>
      <p:sp>
        <p:nvSpPr>
          <p:cNvPr id="103" name="Google Shape;103;p22"/>
          <p:cNvSpPr txBox="1"/>
          <p:nvPr>
            <p:ph idx="1" type="body"/>
          </p:nvPr>
        </p:nvSpPr>
        <p:spPr>
          <a:xfrm>
            <a:off x="680323" y="2336873"/>
            <a:ext cx="3876256" cy="35993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4" name="Google Shape;104;p22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2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2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全景圖片 (含輔助字幕)">
  <p:cSld name="全景圖片 (含輔助字幕)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08" name="Google Shape;10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09" name="Google Shape;10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3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3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3"/>
          <p:cNvSpPr txBox="1"/>
          <p:nvPr>
            <p:ph type="title"/>
          </p:nvPr>
        </p:nvSpPr>
        <p:spPr>
          <a:xfrm>
            <a:off x="680322" y="4711616"/>
            <a:ext cx="9613859" cy="453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rebuchet M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3"/>
          <p:cNvSpPr/>
          <p:nvPr>
            <p:ph idx="2" type="pic"/>
          </p:nvPr>
        </p:nvSpPr>
        <p:spPr>
          <a:xfrm>
            <a:off x="680322" y="609597"/>
            <a:ext cx="9613859" cy="3589575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5040000" dist="63500">
              <a:srgbClr val="000000">
                <a:alpha val="41176"/>
              </a:srgbClr>
            </a:outerShdw>
          </a:effectLst>
        </p:spPr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680319" y="5169583"/>
            <a:ext cx="9613862" cy="6229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5" name="Google Shape;115;p23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2" type="sldNum"/>
          </p:nvPr>
        </p:nvSpPr>
        <p:spPr>
          <a:xfrm>
            <a:off x="10729455" y="4711309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與輔助字幕">
  <p:cSld name="標題與輔助字幕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19" name="Google Shape;119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20" name="Google Shape;12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4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4"/>
          <p:cNvSpPr txBox="1"/>
          <p:nvPr>
            <p:ph type="title"/>
          </p:nvPr>
        </p:nvSpPr>
        <p:spPr>
          <a:xfrm>
            <a:off x="680322" y="609597"/>
            <a:ext cx="9613858" cy="3592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680322" y="4711615"/>
            <a:ext cx="9613859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25" name="Google Shape;125;p24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4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4"/>
          <p:cNvSpPr txBox="1"/>
          <p:nvPr>
            <p:ph idx="12" type="sldNum"/>
          </p:nvPr>
        </p:nvSpPr>
        <p:spPr>
          <a:xfrm>
            <a:off x="10729455" y="471161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引述 (含輔助字幕)">
  <p:cSld name="引述 (含輔助字幕)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29" name="Google Shape;129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30" name="Google Shape;13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5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5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5"/>
          <p:cNvSpPr txBox="1"/>
          <p:nvPr>
            <p:ph type="title"/>
          </p:nvPr>
        </p:nvSpPr>
        <p:spPr>
          <a:xfrm>
            <a:off x="1127856" y="609598"/>
            <a:ext cx="8718877" cy="3036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1402288" y="3653379"/>
            <a:ext cx="8156579" cy="548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5" name="Google Shape;135;p25"/>
          <p:cNvSpPr txBox="1"/>
          <p:nvPr>
            <p:ph idx="2" type="body"/>
          </p:nvPr>
        </p:nvSpPr>
        <p:spPr>
          <a:xfrm>
            <a:off x="680322" y="4711615"/>
            <a:ext cx="9613859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6" name="Google Shape;136;p25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5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5"/>
          <p:cNvSpPr txBox="1"/>
          <p:nvPr>
            <p:ph idx="12" type="sldNum"/>
          </p:nvPr>
        </p:nvSpPr>
        <p:spPr>
          <a:xfrm>
            <a:off x="10729455" y="470992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39" name="Google Shape;139;p2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rebuchet MS"/>
              <a:buNone/>
            </a:pPr>
            <a:r>
              <a:rPr b="0" i="0" lang="zh-TW" sz="72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“</a:t>
            </a:r>
            <a:endParaRPr/>
          </a:p>
        </p:txBody>
      </p:sp>
      <p:sp>
        <p:nvSpPr>
          <p:cNvPr id="140" name="Google Shape;140;p25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rebuchet MS"/>
              <a:buNone/>
            </a:pPr>
            <a:r>
              <a:rPr b="0" i="0" lang="zh-TW" sz="72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名片">
  <p:cSld name="名片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42" name="Google Shape;142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43" name="Google Shape;14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6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6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6"/>
          <p:cNvSpPr txBox="1"/>
          <p:nvPr>
            <p:ph type="title"/>
          </p:nvPr>
        </p:nvSpPr>
        <p:spPr>
          <a:xfrm>
            <a:off x="680319" y="4711615"/>
            <a:ext cx="9613862" cy="5885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6"/>
          <p:cNvSpPr txBox="1"/>
          <p:nvPr>
            <p:ph idx="1" type="body"/>
          </p:nvPr>
        </p:nvSpPr>
        <p:spPr>
          <a:xfrm>
            <a:off x="680320" y="5300149"/>
            <a:ext cx="9613862" cy="5022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8" name="Google Shape;148;p26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6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6"/>
          <p:cNvSpPr txBox="1"/>
          <p:nvPr>
            <p:ph idx="12" type="sldNum"/>
          </p:nvPr>
        </p:nvSpPr>
        <p:spPr>
          <a:xfrm>
            <a:off x="10729455" y="470992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欄">
  <p:cSld name="3 欄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52" name="Google Shape;152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53" name="Google Shape;15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7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7"/>
          <p:cNvSpPr txBox="1"/>
          <p:nvPr>
            <p:ph type="title"/>
          </p:nvPr>
        </p:nvSpPr>
        <p:spPr>
          <a:xfrm>
            <a:off x="669222" y="753228"/>
            <a:ext cx="9624960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7"/>
          <p:cNvSpPr txBox="1"/>
          <p:nvPr>
            <p:ph idx="1" type="body"/>
          </p:nvPr>
        </p:nvSpPr>
        <p:spPr>
          <a:xfrm>
            <a:off x="660946" y="2336873"/>
            <a:ext cx="307003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8" name="Google Shape;158;p27"/>
          <p:cNvSpPr txBox="1"/>
          <p:nvPr>
            <p:ph idx="2" type="body"/>
          </p:nvPr>
        </p:nvSpPr>
        <p:spPr>
          <a:xfrm>
            <a:off x="680322" y="3022673"/>
            <a:ext cx="3049702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9" name="Google Shape;159;p27"/>
          <p:cNvSpPr txBox="1"/>
          <p:nvPr>
            <p:ph idx="3" type="body"/>
          </p:nvPr>
        </p:nvSpPr>
        <p:spPr>
          <a:xfrm>
            <a:off x="3956025" y="2336873"/>
            <a:ext cx="306324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0" name="Google Shape;160;p27"/>
          <p:cNvSpPr txBox="1"/>
          <p:nvPr>
            <p:ph idx="4" type="body"/>
          </p:nvPr>
        </p:nvSpPr>
        <p:spPr>
          <a:xfrm>
            <a:off x="3945470" y="3022673"/>
            <a:ext cx="3063240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61" name="Google Shape;161;p27"/>
          <p:cNvSpPr txBox="1"/>
          <p:nvPr>
            <p:ph idx="5" type="body"/>
          </p:nvPr>
        </p:nvSpPr>
        <p:spPr>
          <a:xfrm>
            <a:off x="7224156" y="2336873"/>
            <a:ext cx="30700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2" name="Google Shape;162;p27"/>
          <p:cNvSpPr txBox="1"/>
          <p:nvPr>
            <p:ph idx="6" type="body"/>
          </p:nvPr>
        </p:nvSpPr>
        <p:spPr>
          <a:xfrm>
            <a:off x="7224156" y="3022673"/>
            <a:ext cx="3070025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63" name="Google Shape;163;p27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27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27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圖片欄">
  <p:cSld name="3 圖片欄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67" name="Google Shape;167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68" name="Google Shape;16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8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8"/>
          <p:cNvSpPr txBox="1"/>
          <p:nvPr>
            <p:ph type="title"/>
          </p:nvPr>
        </p:nvSpPr>
        <p:spPr>
          <a:xfrm>
            <a:off x="680322" y="753228"/>
            <a:ext cx="9613860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8"/>
          <p:cNvSpPr txBox="1"/>
          <p:nvPr>
            <p:ph idx="1" type="body"/>
          </p:nvPr>
        </p:nvSpPr>
        <p:spPr>
          <a:xfrm>
            <a:off x="680318" y="4297503"/>
            <a:ext cx="304970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3" name="Google Shape;173;p28"/>
          <p:cNvSpPr/>
          <p:nvPr>
            <p:ph idx="2" type="pic"/>
          </p:nvPr>
        </p:nvSpPr>
        <p:spPr>
          <a:xfrm>
            <a:off x="680318" y="2336873"/>
            <a:ext cx="3049705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3137"/>
              </a:srgbClr>
            </a:outerShdw>
          </a:effectLst>
        </p:spPr>
      </p:sp>
      <p:sp>
        <p:nvSpPr>
          <p:cNvPr id="174" name="Google Shape;174;p28"/>
          <p:cNvSpPr txBox="1"/>
          <p:nvPr>
            <p:ph idx="3" type="body"/>
          </p:nvPr>
        </p:nvSpPr>
        <p:spPr>
          <a:xfrm>
            <a:off x="680318" y="4873765"/>
            <a:ext cx="3049705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5" name="Google Shape;175;p28"/>
          <p:cNvSpPr txBox="1"/>
          <p:nvPr>
            <p:ph idx="4" type="body"/>
          </p:nvPr>
        </p:nvSpPr>
        <p:spPr>
          <a:xfrm>
            <a:off x="3945471" y="4297503"/>
            <a:ext cx="306324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6" name="Google Shape;176;p28"/>
          <p:cNvSpPr/>
          <p:nvPr>
            <p:ph idx="5" type="pic"/>
          </p:nvPr>
        </p:nvSpPr>
        <p:spPr>
          <a:xfrm>
            <a:off x="3945470" y="2336873"/>
            <a:ext cx="3063240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3137"/>
              </a:srgbClr>
            </a:outerShdw>
          </a:effectLst>
        </p:spPr>
      </p:sp>
      <p:sp>
        <p:nvSpPr>
          <p:cNvPr id="177" name="Google Shape;177;p28"/>
          <p:cNvSpPr txBox="1"/>
          <p:nvPr>
            <p:ph idx="6" type="body"/>
          </p:nvPr>
        </p:nvSpPr>
        <p:spPr>
          <a:xfrm>
            <a:off x="3944117" y="4873764"/>
            <a:ext cx="3067297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8" name="Google Shape;178;p28"/>
          <p:cNvSpPr txBox="1"/>
          <p:nvPr>
            <p:ph idx="7" type="body"/>
          </p:nvPr>
        </p:nvSpPr>
        <p:spPr>
          <a:xfrm>
            <a:off x="7230678" y="4297503"/>
            <a:ext cx="306350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9" name="Google Shape;179;p28"/>
          <p:cNvSpPr/>
          <p:nvPr>
            <p:ph idx="8" type="pic"/>
          </p:nvPr>
        </p:nvSpPr>
        <p:spPr>
          <a:xfrm>
            <a:off x="7230677" y="2336873"/>
            <a:ext cx="3063505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3137"/>
              </a:srgbClr>
            </a:outerShdw>
          </a:effectLst>
        </p:spPr>
      </p:sp>
      <p:sp>
        <p:nvSpPr>
          <p:cNvPr id="180" name="Google Shape;180;p28"/>
          <p:cNvSpPr txBox="1"/>
          <p:nvPr>
            <p:ph idx="9" type="body"/>
          </p:nvPr>
        </p:nvSpPr>
        <p:spPr>
          <a:xfrm>
            <a:off x="7230553" y="4873762"/>
            <a:ext cx="3067563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81" name="Google Shape;181;p28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8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28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85" name="Google Shape;185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86" name="Google Shape;18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9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9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29"/>
          <p:cNvSpPr txBox="1"/>
          <p:nvPr>
            <p:ph idx="1" type="body"/>
          </p:nvPr>
        </p:nvSpPr>
        <p:spPr>
          <a:xfrm rot="5400000">
            <a:off x="3687594" y="-670400"/>
            <a:ext cx="3599316" cy="9613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1" name="Google Shape;191;p29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29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29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/>
          <p:nvPr/>
        </p:nvSpPr>
        <p:spPr>
          <a:xfrm rot="5400000">
            <a:off x="8116207" y="1869395"/>
            <a:ext cx="5106988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0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0"/>
          <p:cNvSpPr txBox="1"/>
          <p:nvPr>
            <p:ph type="title"/>
          </p:nvPr>
        </p:nvSpPr>
        <p:spPr>
          <a:xfrm rot="5400000">
            <a:off x="8489252" y="2249576"/>
            <a:ext cx="4353760" cy="1073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30"/>
          <p:cNvSpPr txBox="1"/>
          <p:nvPr>
            <p:ph idx="1" type="body"/>
          </p:nvPr>
        </p:nvSpPr>
        <p:spPr>
          <a:xfrm rot="5400000">
            <a:off x="2452030" y="-1162110"/>
            <a:ext cx="5326589" cy="8870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30"/>
          <p:cNvSpPr txBox="1"/>
          <p:nvPr>
            <p:ph idx="10" type="dt"/>
          </p:nvPr>
        </p:nvSpPr>
        <p:spPr>
          <a:xfrm>
            <a:off x="6807126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30"/>
          <p:cNvSpPr txBox="1"/>
          <p:nvPr>
            <p:ph idx="11" type="ftr"/>
          </p:nvPr>
        </p:nvSpPr>
        <p:spPr>
          <a:xfrm>
            <a:off x="680321" y="5936188"/>
            <a:ext cx="61268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30"/>
          <p:cNvSpPr txBox="1"/>
          <p:nvPr>
            <p:ph idx="12" type="sldNum"/>
          </p:nvPr>
        </p:nvSpPr>
        <p:spPr>
          <a:xfrm>
            <a:off x="10097550" y="5398633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algn="ctr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dd4efdb401_0_414"/>
          <p:cNvSpPr txBox="1"/>
          <p:nvPr>
            <p:ph type="ctrTitle"/>
          </p:nvPr>
        </p:nvSpPr>
        <p:spPr>
          <a:xfrm>
            <a:off x="914400" y="1122363"/>
            <a:ext cx="103632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g3dd4efdb401_0_414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2" name="Google Shape;212;g3dd4efdb401_0_414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g3dd4efdb401_0_414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g3dd4efdb401_0_414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15" name="Google Shape;215;g3dd4efdb401_0_414"/>
          <p:cNvSpPr txBox="1"/>
          <p:nvPr/>
        </p:nvSpPr>
        <p:spPr>
          <a:xfrm>
            <a:off x="8940800" y="65087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TW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項物件" type="twoObj">
  <p:cSld name="TWO_OBJECTS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dd4efdb401_0_421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g3dd4efdb401_0_421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9" name="Google Shape;219;g3dd4efdb401_0_421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0" name="Google Shape;220;g3dd4efdb401_0_421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g3dd4efdb401_0_421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g3dd4efdb401_0_421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23" name="Google Shape;223;g3dd4efdb401_0_421"/>
          <p:cNvSpPr/>
          <p:nvPr/>
        </p:nvSpPr>
        <p:spPr>
          <a:xfrm>
            <a:off x="431371" y="188640"/>
            <a:ext cx="11329200" cy="129600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 type="obj">
  <p:cSld name="OBJEC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dd4efdb401_0_429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g3dd4efdb401_0_42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7" name="Google Shape;227;g3dd4efdb401_0_429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g3dd4efdb401_0_429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g3dd4efdb401_0_429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30" name="Google Shape;230;g3dd4efdb401_0_429"/>
          <p:cNvSpPr/>
          <p:nvPr/>
        </p:nvSpPr>
        <p:spPr>
          <a:xfrm>
            <a:off x="431371" y="188640"/>
            <a:ext cx="11329200" cy="129600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dd4efdb401_0_436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g3dd4efdb401_0_436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g3dd4efdb401_0_436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d4efdb401_0_440"/>
          <p:cNvSpPr txBox="1"/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g3dd4efdb401_0_440"/>
          <p:cNvSpPr txBox="1"/>
          <p:nvPr>
            <p:ph idx="1" type="body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8" name="Google Shape;238;g3dd4efdb401_0_440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g3dd4efdb401_0_440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g3dd4efdb401_0_440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對" type="twoTxTwoObj">
  <p:cSld name="TWO_OBJECTS_WITH_TEXT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dd4efdb401_0_446"/>
          <p:cNvSpPr txBox="1"/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g3dd4efdb401_0_446"/>
          <p:cNvSpPr txBox="1"/>
          <p:nvPr>
            <p:ph idx="1" type="body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44" name="Google Shape;244;g3dd4efdb401_0_446"/>
          <p:cNvSpPr txBox="1"/>
          <p:nvPr>
            <p:ph idx="2" type="body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5" name="Google Shape;245;g3dd4efdb401_0_446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46" name="Google Shape;246;g3dd4efdb401_0_446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7" name="Google Shape;247;g3dd4efdb401_0_446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g3dd4efdb401_0_446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g3dd4efdb401_0_446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dd4efdb401_0_455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g3dd4efdb401_0_455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g3dd4efdb401_0_455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g3dd4efdb401_0_455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內容" type="objTx">
  <p:cSld name="OBJECT_WITH_CAPTION_TEXT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dd4efdb401_0_460"/>
          <p:cNvSpPr txBox="1"/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g3dd4efdb401_0_460"/>
          <p:cNvSpPr txBox="1"/>
          <p:nvPr>
            <p:ph idx="1" type="body"/>
          </p:nvPr>
        </p:nvSpPr>
        <p:spPr>
          <a:xfrm>
            <a:off x="5183188" y="987426"/>
            <a:ext cx="61725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58" name="Google Shape;258;g3dd4efdb401_0_460"/>
          <p:cNvSpPr txBox="1"/>
          <p:nvPr>
            <p:ph idx="2" type="body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59" name="Google Shape;259;g3dd4efdb401_0_460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g3dd4efdb401_0_460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g3dd4efdb401_0_460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圖片" type="picTx">
  <p:cSld name="PICTURE_WITH_CAPTION_TEXT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dd4efdb401_0_467"/>
          <p:cNvSpPr txBox="1"/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g3dd4efdb401_0_467"/>
          <p:cNvSpPr/>
          <p:nvPr>
            <p:ph idx="2" type="pic"/>
          </p:nvPr>
        </p:nvSpPr>
        <p:spPr>
          <a:xfrm>
            <a:off x="5183188" y="987426"/>
            <a:ext cx="61725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265" name="Google Shape;265;g3dd4efdb401_0_467"/>
          <p:cNvSpPr txBox="1"/>
          <p:nvPr>
            <p:ph idx="1" type="body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66" name="Google Shape;266;g3dd4efdb401_0_467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g3dd4efdb401_0_467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g3dd4efdb401_0_467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dd4efdb401_0_474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g3dd4efdb401_0_474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2" name="Google Shape;272;g3dd4efdb401_0_474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g3dd4efdb401_0_474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g3dd4efdb401_0_474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dd4efdb401_0_480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g3dd4efdb401_0_480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8" name="Google Shape;278;g3dd4efdb401_0_480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g3dd4efdb401_0_480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g3dd4efdb401_0_480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6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8.xml"/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78121"/>
            </a:gs>
            <a:gs pos="50000">
              <a:srgbClr val="D54006"/>
            </a:gs>
            <a:gs pos="100000">
              <a:srgbClr val="8C0000"/>
            </a:gs>
          </a:gsLst>
          <a:lin ang="252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ashOverlay-FullResolve.png" id="10" name="Google Shape;10;p13"/>
          <p:cNvPicPr preferRelativeResize="0"/>
          <p:nvPr/>
        </p:nvPicPr>
        <p:blipFill rotWithShape="1">
          <a:blip r:embed="rId1">
            <a:alphaModFix amt="10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3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3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5" name="Google Shape;15;p13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dd4efdb401_0_407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4" name="Google Shape;204;g3dd4efdb401_0_40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5" name="Google Shape;205;g3dd4efdb401_0_407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6" name="Google Shape;206;g3dd4efdb401_0_407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7" name="Google Shape;207;g3dd4efdb401_0_407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descr="logo2.png" id="208" name="Google Shape;208;g3dd4efdb401_0_40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688288" y="6285194"/>
            <a:ext cx="2247900" cy="571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"/>
          <p:cNvSpPr txBox="1"/>
          <p:nvPr>
            <p:ph type="ctrTitle"/>
          </p:nvPr>
        </p:nvSpPr>
        <p:spPr>
          <a:xfrm>
            <a:off x="680322" y="2733709"/>
            <a:ext cx="8144134" cy="13730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rebuchet MS"/>
              <a:buNone/>
            </a:pPr>
            <a:r>
              <a:rPr lang="zh-TW"/>
              <a:t>Java EE Application </a:t>
            </a:r>
            <a:br>
              <a:rPr lang="zh-TW"/>
            </a:br>
            <a:r>
              <a:rPr lang="zh-TW"/>
              <a:t>1z0-900 </a:t>
            </a:r>
            <a:endParaRPr/>
          </a:p>
        </p:txBody>
      </p:sp>
      <p:sp>
        <p:nvSpPr>
          <p:cNvPr id="286" name="Google Shape;286;p1"/>
          <p:cNvSpPr txBox="1"/>
          <p:nvPr>
            <p:ph idx="1" type="subTitle"/>
          </p:nvPr>
        </p:nvSpPr>
        <p:spPr>
          <a:xfrm>
            <a:off x="680322" y="4394039"/>
            <a:ext cx="8144134" cy="1117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zh-TW"/>
              <a:t>講師:江聖榮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zh-TW"/>
              <a:t>認證代號1z0-900</a:t>
            </a:r>
            <a:endParaRPr/>
          </a:p>
        </p:txBody>
      </p:sp>
      <p:pic>
        <p:nvPicPr>
          <p:cNvPr descr="一張含有 文字, 螢幕擷取畫面 的圖片&#10;&#10;自動產生的描述" id="292" name="Google Shape;292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0297" y="2438400"/>
            <a:ext cx="8769165" cy="41720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zh-TW"/>
              <a:t>1z0-900 課程內容</a:t>
            </a:r>
            <a:endParaRPr/>
          </a:p>
        </p:txBody>
      </p:sp>
      <p:sp>
        <p:nvSpPr>
          <p:cNvPr id="298" name="Google Shape;298;p3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時數:72hrs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</a:pPr>
            <a:r>
              <a:rPr b="0" i="0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  <a:sym typeface="Noto Sans TC"/>
              </a:rPr>
              <a:t>先備能力:java OCP </a:t>
            </a:r>
            <a:r>
              <a:rPr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  <a:sym typeface="Noto Sans TC"/>
              </a:rPr>
              <a:t>1z0-819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</a:pPr>
            <a:r>
              <a:rPr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  <a:sym typeface="Noto Sans TC"/>
              </a:rPr>
              <a:t>參考</a:t>
            </a:r>
            <a:endParaRPr>
              <a:solidFill>
                <a:srgbClr val="FFFFFF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2000"/>
              <a:buChar char="•"/>
            </a:pPr>
            <a:r>
              <a:rPr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  <a:sym typeface="Noto Sans TC"/>
              </a:rPr>
              <a:t>oracle官網</a:t>
            </a:r>
            <a:endParaRPr>
              <a:solidFill>
                <a:srgbClr val="FFFFFF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2000"/>
              <a:buChar char="•"/>
            </a:pPr>
            <a:r>
              <a:rPr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  <a:sym typeface="Noto Sans TC"/>
              </a:rPr>
              <a:t>巨匠</a:t>
            </a:r>
            <a:endParaRPr>
              <a:solidFill>
                <a:srgbClr val="FFFFFF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299" name="Google Shape;299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0000" y="2156775"/>
            <a:ext cx="6620701" cy="4274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g3dd4efdb401_0_3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867" y="1951594"/>
            <a:ext cx="4253304" cy="2066284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05" name="Google Shape;305;g3dd4efdb401_0_390"/>
          <p:cNvSpPr txBox="1"/>
          <p:nvPr/>
        </p:nvSpPr>
        <p:spPr>
          <a:xfrm>
            <a:off x="5524500" y="2652706"/>
            <a:ext cx="1143300" cy="30000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資料庫</a:t>
            </a:r>
            <a:endParaRPr/>
          </a:p>
        </p:txBody>
      </p:sp>
      <p:cxnSp>
        <p:nvCxnSpPr>
          <p:cNvPr id="306" name="Google Shape;306;g3dd4efdb401_0_390"/>
          <p:cNvCxnSpPr/>
          <p:nvPr/>
        </p:nvCxnSpPr>
        <p:spPr>
          <a:xfrm>
            <a:off x="4489704" y="2791206"/>
            <a:ext cx="932700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07" name="Google Shape;307;g3dd4efdb401_0_390"/>
          <p:cNvSpPr txBox="1"/>
          <p:nvPr/>
        </p:nvSpPr>
        <p:spPr>
          <a:xfrm>
            <a:off x="111868" y="4080787"/>
            <a:ext cx="39936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Java</a:t>
            </a:r>
            <a:r>
              <a:rPr b="1" lang="zh-TW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設計 web功能</a:t>
            </a:r>
            <a:r>
              <a:rPr b="1" lang="zh-TW" sz="1800">
                <a:solidFill>
                  <a:srgbClr val="FF0000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收集</a:t>
            </a:r>
            <a:r>
              <a:rPr lang="zh-TW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使用者資料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AutoNum type="arabicPeriod"/>
            </a:pPr>
            <a:r>
              <a:rPr b="1" lang="zh-TW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會員管理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AutoNum type="arabicPeriod"/>
            </a:pPr>
            <a:r>
              <a:rPr b="1" lang="zh-TW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網站前後台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AutoNum type="arabicPeriod"/>
            </a:pPr>
            <a:r>
              <a:rPr b="1" lang="zh-TW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購物車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8" name="Google Shape;308;g3dd4efdb401_0_390"/>
          <p:cNvCxnSpPr/>
          <p:nvPr/>
        </p:nvCxnSpPr>
        <p:spPr>
          <a:xfrm>
            <a:off x="6858000" y="2791206"/>
            <a:ext cx="630900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309" name="Google Shape;309;g3dd4efdb401_0_3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26829" y="1951593"/>
            <a:ext cx="3062084" cy="2066284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10" name="Google Shape;310;g3dd4efdb401_0_390"/>
          <p:cNvSpPr txBox="1"/>
          <p:nvPr/>
        </p:nvSpPr>
        <p:spPr>
          <a:xfrm>
            <a:off x="7657883" y="4080787"/>
            <a:ext cx="42516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r>
              <a:rPr b="1" lang="zh-TW" sz="1800">
                <a:solidFill>
                  <a:srgbClr val="FF0000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使用</a:t>
            </a:r>
            <a:r>
              <a:rPr lang="zh-TW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收集的使用者資料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AutoNum type="arabicPeriod"/>
            </a:pPr>
            <a:r>
              <a:rPr b="1" lang="zh-TW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數據分析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AutoNum type="arabicPeriod"/>
            </a:pPr>
            <a:r>
              <a:rPr b="1" lang="zh-TW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客戶分析,市場分析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AutoNum type="arabicPeriod"/>
            </a:pPr>
            <a:r>
              <a:rPr b="1" lang="zh-TW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 工具應用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1" name="Google Shape;311;g3dd4efdb401_0_390"/>
          <p:cNvCxnSpPr>
            <a:endCxn id="304" idx="0"/>
          </p:cNvCxnSpPr>
          <p:nvPr/>
        </p:nvCxnSpPr>
        <p:spPr>
          <a:xfrm rot="10800000">
            <a:off x="2238519" y="1951594"/>
            <a:ext cx="3857700" cy="633900"/>
          </a:xfrm>
          <a:prstGeom prst="bentConnector4">
            <a:avLst>
              <a:gd fmla="val -319" name="adj1"/>
              <a:gd fmla="val 153012" name="adj2"/>
            </a:avLst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312" name="Google Shape;312;g3dd4efdb401_0_390"/>
          <p:cNvSpPr txBox="1"/>
          <p:nvPr/>
        </p:nvSpPr>
        <p:spPr>
          <a:xfrm>
            <a:off x="3559184" y="1248156"/>
            <a:ext cx="152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Java 全端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g3dd4efdb401_0_402" title="IMG_3049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0" y="599200"/>
            <a:ext cx="8839199" cy="4949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zh-TW"/>
              <a:t>基本網路架構應用知識</a:t>
            </a:r>
            <a:endParaRPr/>
          </a:p>
        </p:txBody>
      </p:sp>
      <p:sp>
        <p:nvSpPr>
          <p:cNvPr id="324" name="Google Shape;324;p4"/>
          <p:cNvSpPr txBox="1"/>
          <p:nvPr>
            <p:ph idx="1" type="body"/>
          </p:nvPr>
        </p:nvSpPr>
        <p:spPr>
          <a:xfrm>
            <a:off x="680321" y="2336872"/>
            <a:ext cx="9613861" cy="3900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目的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設備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硬體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軟體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通訊協定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基本指令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一張含有 天空, 街燈, 戶外, Neon 的圖片&#10;&#10;自動產生的描述" id="325" name="Google Shape;32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05372" y="2092098"/>
            <a:ext cx="7806307" cy="4391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zh-TW"/>
              <a:t>網路架構目的</a:t>
            </a:r>
            <a:endParaRPr/>
          </a:p>
        </p:txBody>
      </p:sp>
      <p:sp>
        <p:nvSpPr>
          <p:cNvPr id="331" name="Google Shape;331;p5"/>
          <p:cNvSpPr txBox="1"/>
          <p:nvPr>
            <p:ph idx="1" type="body"/>
          </p:nvPr>
        </p:nvSpPr>
        <p:spPr>
          <a:xfrm>
            <a:off x="680320" y="2020824"/>
            <a:ext cx="4698358" cy="4517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AutoNum type="arabicPeriod"/>
            </a:pPr>
            <a:r>
              <a:rPr b="1" lang="zh-TW">
                <a:solidFill>
                  <a:schemeClr val="dk1"/>
                </a:solidFill>
              </a:rPr>
              <a:t>有效的資源共享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 sz="1900"/>
              <a:t>讓不同設備之間能夠共享資源（如檔案、印表機、伺服器等），提高效率並降低成本。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AutoNum type="arabicPeriod"/>
            </a:pPr>
            <a:r>
              <a:rPr b="1" lang="zh-TW">
                <a:solidFill>
                  <a:schemeClr val="dk1"/>
                </a:solidFill>
              </a:rPr>
              <a:t>通訊與連接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 sz="1900"/>
              <a:t>支援設備之間的即時通訊，例如電子郵件、視訊會議、訊息傳輸等。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AutoNum type="arabicPeriod"/>
            </a:pPr>
            <a:r>
              <a:rPr b="1" lang="zh-TW">
                <a:solidFill>
                  <a:schemeClr val="dk1"/>
                </a:solidFill>
              </a:rPr>
              <a:t>提升可擴展性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 sz="1900"/>
              <a:t>設計一個可以隨著需求變化輕鬆擴展的網路，無論是增加新設備、新用戶，還是應對更高的流量需求。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AutoNum type="arabicPeriod"/>
            </a:pPr>
            <a:r>
              <a:rPr b="1" lang="zh-TW">
                <a:solidFill>
                  <a:schemeClr val="dk1"/>
                </a:solidFill>
              </a:rPr>
              <a:t>提高可靠性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 sz="1900"/>
              <a:t>透過備援（Redundancy）和錯誤處理機制來確保網路在故障時仍能維持運行。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AutoNum type="arabicPeriod"/>
            </a:pPr>
            <a:r>
              <a:rPr b="1" lang="zh-TW">
                <a:solidFill>
                  <a:schemeClr val="dk1"/>
                </a:solidFill>
              </a:rPr>
              <a:t>安全性保障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 sz="1900"/>
              <a:t>防範未經授權的存取，保護敏感數據和資源免受攻擊或洩漏。</a:t>
            </a:r>
            <a:endParaRPr/>
          </a:p>
          <a:p>
            <a:pPr indent="-9906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32" name="Google Shape;332;p5"/>
          <p:cNvSpPr txBox="1"/>
          <p:nvPr>
            <p:ph idx="2" type="body"/>
          </p:nvPr>
        </p:nvSpPr>
        <p:spPr>
          <a:xfrm>
            <a:off x="5594123" y="2112264"/>
            <a:ext cx="4700058" cy="4425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AutoNum type="arabicPeriod" startAt="6"/>
            </a:pPr>
            <a:r>
              <a:rPr b="1" lang="zh-TW">
                <a:solidFill>
                  <a:schemeClr val="dk1"/>
                </a:solidFill>
              </a:rPr>
              <a:t>效率優化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 sz="1900"/>
              <a:t>透過良好的設計，最大限度地減少延遲（Latency）、數據丟失，並提高網路速度和效能。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AutoNum type="arabicPeriod" startAt="6"/>
            </a:pPr>
            <a:r>
              <a:rPr b="1" lang="zh-TW">
                <a:solidFill>
                  <a:schemeClr val="dk1"/>
                </a:solidFill>
              </a:rPr>
              <a:t>降低運營成本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 sz="1900"/>
              <a:t>合理的架構設計可以減少管理和維護的複雜性，從而降低運營成本。</a:t>
            </a:r>
            <a:endParaRPr/>
          </a:p>
          <a:p>
            <a:pPr indent="-457200" lvl="1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AutoNum type="arabicPeriod" startAt="6"/>
            </a:pPr>
            <a:r>
              <a:rPr b="1" lang="zh-TW" sz="2400">
                <a:solidFill>
                  <a:schemeClr val="dk1"/>
                </a:solidFill>
              </a:rPr>
              <a:t>標準化與互通性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 sz="1900"/>
              <a:t>促進不同廠商設備和技術的相容性，確保網路設備之間的互操作性。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AutoNum type="arabicPeriod" startAt="8"/>
            </a:pPr>
            <a:r>
              <a:rPr b="1" lang="zh-TW">
                <a:solidFill>
                  <a:schemeClr val="dk1"/>
                </a:solidFill>
              </a:rPr>
              <a:t>支援多種應用和服務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 sz="1900"/>
              <a:t>提供基礎設施來支持多種應用（如資料庫、雲服務、物聯網等）和服務（如VoIP、流媒體、數據分析）</a:t>
            </a:r>
            <a:r>
              <a:rPr lang="zh-TW"/>
              <a:t>。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AutoNum type="arabicPeriod" startAt="8"/>
            </a:pPr>
            <a:r>
              <a:rPr b="1" lang="zh-TW">
                <a:solidFill>
                  <a:schemeClr val="dk1"/>
                </a:solidFill>
              </a:rPr>
              <a:t>易於管理與監控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 sz="1900"/>
              <a:t>通過集中化管理和自動化工具，簡化網路的配置、監控和故障排除。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6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zh-TW"/>
              <a:t>網路架構設備</a:t>
            </a:r>
            <a:endParaRPr/>
          </a:p>
        </p:txBody>
      </p:sp>
      <p:sp>
        <p:nvSpPr>
          <p:cNvPr id="339" name="Google Shape;339;p6"/>
          <p:cNvSpPr txBox="1"/>
          <p:nvPr>
            <p:ph idx="1" type="body"/>
          </p:nvPr>
        </p:nvSpPr>
        <p:spPr>
          <a:xfrm>
            <a:off x="680320" y="2336873"/>
            <a:ext cx="46983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硬體</a:t>
            </a:r>
            <a:endParaRPr/>
          </a:p>
        </p:txBody>
      </p:sp>
      <p:sp>
        <p:nvSpPr>
          <p:cNvPr id="340" name="Google Shape;340;p6"/>
          <p:cNvSpPr txBox="1"/>
          <p:nvPr>
            <p:ph idx="2" type="body"/>
          </p:nvPr>
        </p:nvSpPr>
        <p:spPr>
          <a:xfrm>
            <a:off x="5594123" y="2336873"/>
            <a:ext cx="47000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應用軟體</a:t>
            </a:r>
            <a:endParaRPr/>
          </a:p>
        </p:txBody>
      </p:sp>
      <p:pic>
        <p:nvPicPr>
          <p:cNvPr descr="一張含有 圖表, 寫生 的圖片&#10;&#10;自動產生的描述" id="341" name="Google Shape;34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376" y="3218688"/>
            <a:ext cx="5010150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一張含有 文字, 螢幕擷取畫面 的圖片&#10;&#10;自動產生的描述" id="342" name="Google Shape;34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55540" y="2857420"/>
            <a:ext cx="4975832" cy="37002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7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zh-TW"/>
              <a:t>通訊協定</a:t>
            </a:r>
            <a:endParaRPr/>
          </a:p>
        </p:txBody>
      </p:sp>
      <p:sp>
        <p:nvSpPr>
          <p:cNvPr id="348" name="Google Shape;348;p7"/>
          <p:cNvSpPr txBox="1"/>
          <p:nvPr>
            <p:ph idx="1" type="body"/>
          </p:nvPr>
        </p:nvSpPr>
        <p:spPr>
          <a:xfrm>
            <a:off x="680320" y="2336873"/>
            <a:ext cx="46983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資料分享與溝通</a:t>
            </a:r>
            <a:endParaRPr/>
          </a:p>
        </p:txBody>
      </p:sp>
      <p:sp>
        <p:nvSpPr>
          <p:cNvPr id="349" name="Google Shape;349;p7"/>
          <p:cNvSpPr txBox="1"/>
          <p:nvPr>
            <p:ph idx="2" type="body"/>
          </p:nvPr>
        </p:nvSpPr>
        <p:spPr>
          <a:xfrm>
            <a:off x="5594123" y="2336873"/>
            <a:ext cx="47000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TCP/IP</a:t>
            </a:r>
            <a:endParaRPr/>
          </a:p>
        </p:txBody>
      </p:sp>
      <p:pic>
        <p:nvPicPr>
          <p:cNvPr descr="一張含有 文字, 圖表, 螢幕擷取畫面, 字型 的圖片&#10;&#10;自動產生的描述" id="350" name="Google Shape;35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823" y="3324922"/>
            <a:ext cx="4948786" cy="26238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一張含有 文字, 螢幕擷取畫面, 字型, Rectangle 的圖片&#10;&#10;自動產生的描述" id="351" name="Google Shape;35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92860" y="2992404"/>
            <a:ext cx="6260317" cy="32888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8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zh-TW"/>
              <a:t>Command line基本指令</a:t>
            </a:r>
            <a:endParaRPr/>
          </a:p>
        </p:txBody>
      </p:sp>
      <p:sp>
        <p:nvSpPr>
          <p:cNvPr id="357" name="Google Shape;357;p8"/>
          <p:cNvSpPr txBox="1"/>
          <p:nvPr>
            <p:ph idx="1" type="body"/>
          </p:nvPr>
        </p:nvSpPr>
        <p:spPr>
          <a:xfrm>
            <a:off x="680320" y="2336873"/>
            <a:ext cx="46983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Windows-cmd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Ipconfig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Ping</a:t>
            </a:r>
            <a:endParaRPr/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58" name="Google Shape;358;p8"/>
          <p:cNvSpPr txBox="1"/>
          <p:nvPr>
            <p:ph idx="2" type="body"/>
          </p:nvPr>
        </p:nvSpPr>
        <p:spPr>
          <a:xfrm>
            <a:off x="5594123" y="2336873"/>
            <a:ext cx="47000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Mac/linux-terminal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Ifconfig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ping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一張含有 文字, 螢幕擷取畫面, 字型, 黑色 的圖片&#10;&#10;自動產生的描述" id="359" name="Google Shape;35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589" y="3883355"/>
            <a:ext cx="9613861" cy="19468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9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zh-TW"/>
              <a:t>fullStack web架構</a:t>
            </a:r>
            <a:endParaRPr/>
          </a:p>
        </p:txBody>
      </p:sp>
      <p:sp>
        <p:nvSpPr>
          <p:cNvPr id="365" name="Google Shape;365;p9"/>
          <p:cNvSpPr txBox="1"/>
          <p:nvPr>
            <p:ph idx="1" type="body"/>
          </p:nvPr>
        </p:nvSpPr>
        <p:spPr>
          <a:xfrm>
            <a:off x="680320" y="2336873"/>
            <a:ext cx="46983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32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zh-TW" sz="3500">
                <a:solidFill>
                  <a:schemeClr val="dk1"/>
                </a:solidFill>
              </a:rPr>
              <a:t>backEND</a:t>
            </a:r>
            <a:endParaRPr b="1" sz="3500">
              <a:solidFill>
                <a:schemeClr val="dk1"/>
              </a:solidFill>
            </a:endParaRPr>
          </a:p>
          <a:p>
            <a:pPr indent="-228632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zh-TW" sz="3500">
                <a:solidFill>
                  <a:schemeClr val="dk1"/>
                </a:solidFill>
              </a:rPr>
              <a:t>webservice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http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Browser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Server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B/S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RestFul</a:t>
            </a:r>
            <a:endParaRPr/>
          </a:p>
          <a:p>
            <a:pPr indent="-228632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zh-TW" sz="3500">
                <a:solidFill>
                  <a:schemeClr val="dk1"/>
                </a:solidFill>
              </a:rPr>
              <a:t>webSocket</a:t>
            </a:r>
            <a:endParaRPr b="1" sz="3500">
              <a:solidFill>
                <a:schemeClr val="dk1"/>
              </a:solidFill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TCP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Http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port</a:t>
            </a:r>
            <a:endParaRPr/>
          </a:p>
          <a:p>
            <a:pPr indent="-8763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t/>
            </a:r>
            <a:endParaRPr/>
          </a:p>
          <a:p>
            <a:pPr indent="-111125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66" name="Google Shape;366;p9"/>
          <p:cNvSpPr txBox="1"/>
          <p:nvPr>
            <p:ph idx="2" type="body"/>
          </p:nvPr>
        </p:nvSpPr>
        <p:spPr>
          <a:xfrm>
            <a:off x="4517136" y="2336873"/>
            <a:ext cx="5777045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32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zh-TW" sz="3500">
                <a:solidFill>
                  <a:schemeClr val="dk1"/>
                </a:solidFill>
              </a:rPr>
              <a:t>frontEnd</a:t>
            </a:r>
            <a:endParaRPr b="1" sz="3500">
              <a:solidFill>
                <a:schemeClr val="dk1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HTML,CSS,javaScript,Jquery,Ajax</a:t>
            </a:r>
            <a:endParaRPr/>
          </a:p>
          <a:p>
            <a:pPr indent="-111125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descr="一張含有 圖表, 螢幕擷取畫面, 文字, 設計 的圖片&#10;&#10;自動產生的描述" id="367" name="Google Shape;36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4480" y="3276596"/>
            <a:ext cx="8077200" cy="316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0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zh-TW"/>
              <a:t>安裝工具與環境設定</a:t>
            </a:r>
            <a:endParaRPr/>
          </a:p>
        </p:txBody>
      </p:sp>
      <p:sp>
        <p:nvSpPr>
          <p:cNvPr id="373" name="Google Shape;373;p10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JDK 17(最少 8以後)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Eclipse java EE web版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Mysql 8.0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Tomcat 9.0/TomEE(restFul)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甲骨文原廠認證用 1z0-900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NetBeans</a:t>
            </a:r>
            <a:endParaRPr/>
          </a:p>
          <a:p>
            <a:pPr indent="-2159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zh-TW"/>
              <a:t>eclipse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1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zh-TW"/>
              <a:t>新增web專案</a:t>
            </a:r>
            <a:endParaRPr/>
          </a:p>
        </p:txBody>
      </p:sp>
      <p:sp>
        <p:nvSpPr>
          <p:cNvPr id="379" name="Google Shape;379;p11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Dynamic web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SRC/main/java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Src/main/webapp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Web server測試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一張含有 文字, 螢幕擷取畫面, 字型 的圖片&#10;&#10;自動產生的描述" id="380" name="Google Shape;38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6800" y="2336873"/>
            <a:ext cx="4467286" cy="41099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2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zh-TW"/>
              <a:t>基本HTML</a:t>
            </a:r>
            <a:endParaRPr/>
          </a:p>
        </p:txBody>
      </p:sp>
      <p:sp>
        <p:nvSpPr>
          <p:cNvPr id="386" name="Google Shape;386;p12"/>
          <p:cNvSpPr txBox="1"/>
          <p:nvPr>
            <p:ph idx="1" type="body"/>
          </p:nvPr>
        </p:nvSpPr>
        <p:spPr>
          <a:xfrm>
            <a:off x="680320" y="2336873"/>
            <a:ext cx="46983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HTML4/5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&lt;body&gt;&lt;/body&gt;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標記排版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字體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顏色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超連結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圖片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表格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表單</a:t>
            </a:r>
            <a:endParaRPr/>
          </a:p>
        </p:txBody>
      </p:sp>
      <p:sp>
        <p:nvSpPr>
          <p:cNvPr id="387" name="Google Shape;387;p12"/>
          <p:cNvSpPr txBox="1"/>
          <p:nvPr>
            <p:ph idx="2" type="body"/>
          </p:nvPr>
        </p:nvSpPr>
        <p:spPr>
          <a:xfrm>
            <a:off x="5594123" y="2336873"/>
            <a:ext cx="47000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參考網站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9w2u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W3school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菜鳥教程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API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Java 8 api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Servlet Api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柏林">
  <a:themeElements>
    <a:clrScheme name="柏林">
      <a:dk1>
        <a:srgbClr val="000000"/>
      </a:dk1>
      <a:lt1>
        <a:srgbClr val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 佈景主題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2024-11-01T05:39:46Z</dcterms:created>
  <dc:creator>allen chan</dc:creator>
</cp:coreProperties>
</file>